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723900"/>
            <a:ext cx="1016000" cy="1263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2280" y="797560"/>
            <a:ext cx="13208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b="1" sz="2600">
                <a:solidFill>
                  <a:srgbClr val="0F172A"/>
                </a:solidFill>
                <a:latin typeface="Roboto"/>
              </a:rPr>
              <a:t>Vishwas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2280" y="1122680"/>
            <a:ext cx="3821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475569"/>
                </a:solidFill>
                <a:latin typeface="Roboto"/>
              </a:rPr>
              <a:t>Forex / Crypto Support Specialist • Prop Firm Trading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2280" y="1490980"/>
            <a:ext cx="510286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5" sz="900">
                <a:solidFill>
                  <a:srgbClr val="94A3B8"/>
                </a:solidFill>
                <a:latin typeface="Roboto"/>
              </a:rPr>
              <a:t>I</a:t>
            </a:r>
            <a:r>
              <a:rPr spc="30" sz="900">
                <a:solidFill>
                  <a:srgbClr val="94A3B8"/>
                </a:solidFill>
                <a:latin typeface="Roboto"/>
              </a:rPr>
              <a:t> Remote — Flexible Time Zones  |  </a:t>
            </a:r>
            <a:r>
              <a:rPr spc="445" sz="900">
                <a:solidFill>
                  <a:srgbClr val="94A3B8"/>
                </a:solidFill>
                <a:latin typeface="Roboto"/>
              </a:rPr>
              <a:t>I</a:t>
            </a:r>
            <a:r>
              <a:rPr spc="14" sz="900">
                <a:solidFill>
                  <a:srgbClr val="94A3B8"/>
                </a:solidFill>
                <a:latin typeface="Roboto"/>
              </a:rPr>
              <a:t> Part-Time / Hourly / Shift Work  |  </a:t>
            </a:r>
            <a:r>
              <a:rPr spc="435" sz="900">
                <a:solidFill>
                  <a:srgbClr val="94A3B8"/>
                </a:solidFill>
                <a:latin typeface="Roboto"/>
              </a:rPr>
              <a:t>I</a:t>
            </a:r>
            <a:r>
              <a:rPr spc="15" sz="900">
                <a:solidFill>
                  <a:srgbClr val="94A3B8"/>
                </a:solidFill>
                <a:latin typeface="Roboto"/>
              </a:rPr>
              <a:t> Weekends &amp; Evenings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2280" y="1676400"/>
            <a:ext cx="1651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00">
                <a:solidFill>
                  <a:srgbClr val="94A3B8"/>
                </a:solidFill>
                <a:latin typeface="Roboto"/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399030"/>
            <a:ext cx="16675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1050">
                <a:solidFill>
                  <a:srgbClr val="0F172A"/>
                </a:solidFill>
                <a:latin typeface="Roboto"/>
              </a:rPr>
              <a:t>PROFESSIONAL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702560"/>
            <a:ext cx="55867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00">
                <a:solidFill>
                  <a:srgbClr val="475569"/>
                </a:solidFill>
                <a:latin typeface="Roboto"/>
              </a:rPr>
              <a:t>Results-driven BBA student with </a:t>
            </a:r>
            <a:r>
              <a:rPr spc="34" b="1" sz="1000">
                <a:solidFill>
                  <a:srgbClr val="475569"/>
                </a:solidFill>
                <a:latin typeface="Roboto"/>
              </a:rPr>
              <a:t>3+ years of active proprietary trading experience</a:t>
            </a:r>
            <a:r>
              <a:rPr spc="12" sz="1000">
                <a:solidFill>
                  <a:srgbClr val="475569"/>
                </a:solidFill>
                <a:latin typeface="Roboto"/>
              </a:rPr>
              <a:t> and </a:t>
            </a:r>
            <a:r>
              <a:rPr spc="27" b="1" sz="1000">
                <a:solidFill>
                  <a:srgbClr val="475569"/>
                </a:solidFill>
                <a:latin typeface="Roboto"/>
              </a:rPr>
              <a:t>1 year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893060"/>
            <a:ext cx="60134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00">
                <a:solidFill>
                  <a:srgbClr val="475569"/>
                </a:solidFill>
                <a:latin typeface="Roboto"/>
              </a:rPr>
              <a:t>hands-on customer support</a:t>
            </a:r>
            <a:r>
              <a:rPr spc="-5" sz="1000">
                <a:solidFill>
                  <a:srgbClr val="475569"/>
                </a:solidFill>
                <a:latin typeface="Roboto"/>
              </a:rPr>
              <a:t> within a high-volume futures prop firm community. Possesses an uncommon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083560"/>
            <a:ext cx="60845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00">
                <a:solidFill>
                  <a:srgbClr val="475569"/>
                </a:solidFill>
                <a:latin typeface="Roboto"/>
              </a:rPr>
              <a:t>dual perspective: deep technical knowledge of trading platforms, crypto ecosystems, and market mechanics,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274060"/>
            <a:ext cx="578865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00">
                <a:solidFill>
                  <a:srgbClr val="475569"/>
                </a:solidFill>
                <a:latin typeface="Roboto"/>
              </a:rPr>
              <a:t>combined with proven ability to de-escalate conflicts, manage KYC workflows, and support hundreds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464560"/>
            <a:ext cx="56540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00">
                <a:solidFill>
                  <a:srgbClr val="475569"/>
                </a:solidFill>
                <a:latin typeface="Roboto"/>
              </a:rPr>
              <a:t>concurrent users. Seeking a remote, part-time support or operations role at a forex brokerage, crypto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655060"/>
            <a:ext cx="59931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00">
                <a:solidFill>
                  <a:srgbClr val="475569"/>
                </a:solidFill>
                <a:latin typeface="Roboto"/>
              </a:rPr>
              <a:t>exchange, futures platform, or prop firm where trader empathy and platform fluency drive exceptional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845560"/>
            <a:ext cx="5867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000">
                <a:solidFill>
                  <a:srgbClr val="475569"/>
                </a:solidFill>
                <a:latin typeface="Roboto"/>
              </a:rPr>
              <a:t>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240530"/>
            <a:ext cx="19494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1050">
                <a:solidFill>
                  <a:srgbClr val="0F172A"/>
                </a:solidFill>
                <a:latin typeface="Roboto"/>
              </a:rPr>
              <a:t>PROFESSIONAL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545330"/>
            <a:ext cx="31711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50">
                <a:solidFill>
                  <a:srgbClr val="0F172A"/>
                </a:solidFill>
                <a:latin typeface="Roboto"/>
              </a:rPr>
              <a:t>Community Moderator &amp; Client Support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390" y="4732020"/>
            <a:ext cx="40767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i="1" sz="950">
                <a:solidFill>
                  <a:srgbClr val="475569"/>
                </a:solidFill>
                <a:latin typeface="Roboto"/>
              </a:rPr>
              <a:t>Leading Futures Proprietary Trading Firm — Discord Community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220" y="4729480"/>
            <a:ext cx="6477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850">
                <a:solidFill>
                  <a:srgbClr val="94A3B8"/>
                </a:solidFill>
                <a:latin typeface="Roboto"/>
              </a:rPr>
              <a:t>2023 —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895850"/>
            <a:ext cx="611250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900">
                <a:solidFill>
                  <a:srgbClr val="475569"/>
                </a:solidFill>
                <a:latin typeface="Roboto"/>
              </a:rPr>
              <a:t>• Delivered real-time support to </a:t>
            </a:r>
            <a:r>
              <a:rPr spc="21" b="1" sz="900">
                <a:solidFill>
                  <a:srgbClr val="475569"/>
                </a:solidFill>
                <a:latin typeface="Roboto"/>
              </a:rPr>
              <a:t>500+ active traders</a:t>
            </a:r>
            <a:r>
              <a:rPr spc="-2" sz="900">
                <a:solidFill>
                  <a:srgbClr val="475569"/>
                </a:solidFill>
                <a:latin typeface="Roboto"/>
              </a:rPr>
              <a:t> across Discord, managing high-ticket volumes during volatile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067300"/>
            <a:ext cx="18237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900">
                <a:solidFill>
                  <a:srgbClr val="475569"/>
                </a:solidFill>
                <a:latin typeface="Roboto"/>
              </a:rPr>
              <a:t>events (NFP, FOMC, CPI releases).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238750"/>
            <a:ext cx="57708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900">
                <a:solidFill>
                  <a:srgbClr val="475569"/>
                </a:solidFill>
                <a:latin typeface="Roboto"/>
              </a:rPr>
              <a:t>• Resolved complex KYC/AML verification queries, payout status inquiries, and account access issues — reducing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10200"/>
            <a:ext cx="29159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00">
                <a:solidFill>
                  <a:srgbClr val="475569"/>
                </a:solidFill>
                <a:latin typeface="Roboto"/>
              </a:rPr>
              <a:t>average resolution time through proactive documentation.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5581650"/>
            <a:ext cx="57010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475569"/>
                </a:solidFill>
                <a:latin typeface="Roboto"/>
              </a:rPr>
              <a:t>• De-escalated conflicts with frustrated traders facing drawdowns, platform latency, or funding delays; maintained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753100"/>
            <a:ext cx="15379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900">
                <a:solidFill>
                  <a:srgbClr val="475569"/>
                </a:solidFill>
                <a:latin typeface="Roboto"/>
              </a:rPr>
              <a:t>community retention and trust.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5924550"/>
            <a:ext cx="599313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900">
                <a:solidFill>
                  <a:srgbClr val="475569"/>
                </a:solidFill>
                <a:latin typeface="Roboto"/>
              </a:rPr>
              <a:t>• Managed </a:t>
            </a:r>
            <a:r>
              <a:rPr spc="33" b="1" sz="900">
                <a:solidFill>
                  <a:srgbClr val="475569"/>
                </a:solidFill>
                <a:latin typeface="Roboto"/>
              </a:rPr>
              <a:t>multiple concurrent support threads</a:t>
            </a:r>
            <a:r>
              <a:rPr spc="-2" sz="900">
                <a:solidFill>
                  <a:srgbClr val="475569"/>
                </a:solidFill>
                <a:latin typeface="Roboto"/>
              </a:rPr>
              <a:t> under pressure, triaging urgent tickets and routing technical bugs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6096000"/>
            <a:ext cx="97281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00">
                <a:solidFill>
                  <a:srgbClr val="475569"/>
                </a:solidFill>
                <a:latin typeface="Roboto"/>
              </a:rPr>
              <a:t>engineering teams.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6267450"/>
            <a:ext cx="56819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00">
                <a:solidFill>
                  <a:srgbClr val="475569"/>
                </a:solidFill>
                <a:latin typeface="Roboto"/>
              </a:rPr>
              <a:t>• Onboarded new traders by guiding them through platform setup (Tradovate, Rithmic), evaluation rules, and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6438900"/>
            <a:ext cx="10807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475569"/>
                </a:solidFill>
                <a:latin typeface="Roboto"/>
              </a:rPr>
              <a:t>parameter alignment.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6610350"/>
            <a:ext cx="58280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00">
                <a:solidFill>
                  <a:srgbClr val="475569"/>
                </a:solidFill>
                <a:latin typeface="Roboto"/>
              </a:rPr>
              <a:t>• Flagged suspicious trading patterns and compliance violations to backend risk teams, contributing to firm integrity.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6932930"/>
            <a:ext cx="19939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050">
                <a:solidFill>
                  <a:srgbClr val="0F172A"/>
                </a:solidFill>
                <a:latin typeface="Roboto"/>
              </a:rPr>
              <a:t>Independent Proprietary Trader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390" y="7119620"/>
            <a:ext cx="24333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i="1" sz="950">
                <a:solidFill>
                  <a:srgbClr val="475569"/>
                </a:solidFill>
                <a:latin typeface="Roboto"/>
              </a:rPr>
              <a:t>Self-Directed / Multiple Prop Firm Evaluations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0140" y="7117080"/>
            <a:ext cx="77978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850">
                <a:solidFill>
                  <a:srgbClr val="94A3B8"/>
                </a:solidFill>
                <a:latin typeface="Roboto"/>
              </a:rPr>
              <a:t>2022 — Present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900" y="7283450"/>
            <a:ext cx="59931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00">
                <a:solidFill>
                  <a:srgbClr val="475569"/>
                </a:solidFill>
                <a:latin typeface="Roboto"/>
              </a:rPr>
              <a:t>• Executed futures and forex strategies across multiple prop firm evaluations, developing expertise in risk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" y="7454900"/>
            <a:ext cx="97281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00">
                <a:solidFill>
                  <a:srgbClr val="475569"/>
                </a:solidFill>
                <a:latin typeface="Roboto"/>
              </a:rPr>
              <a:t>and position sizing.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7626350"/>
            <a:ext cx="611250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475569"/>
                </a:solidFill>
                <a:latin typeface="Roboto"/>
              </a:rPr>
              <a:t>• Achieved platform fluency across </a:t>
            </a:r>
            <a:r>
              <a:rPr spc="31" b="1" sz="900">
                <a:solidFill>
                  <a:srgbClr val="475569"/>
                </a:solidFill>
                <a:latin typeface="Roboto"/>
              </a:rPr>
              <a:t>MT4, MT5, cTrader, Tradovate, Rithmic, QuantTower, DeepCharts, and TradeSea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7797800"/>
            <a:ext cx="17729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900">
                <a:solidFill>
                  <a:srgbClr val="475569"/>
                </a:solidFill>
                <a:latin typeface="Roboto"/>
              </a:rPr>
              <a:t>— including backend order routing.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7969250"/>
            <a:ext cx="57442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00">
                <a:solidFill>
                  <a:srgbClr val="475569"/>
                </a:solidFill>
                <a:latin typeface="Roboto"/>
              </a:rPr>
              <a:t>• Built disciplined trading protocols: pre-market analysis, structured journaling, performance review, and emotional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900" y="8140700"/>
            <a:ext cx="14300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00">
                <a:solidFill>
                  <a:srgbClr val="475569"/>
                </a:solidFill>
                <a:latin typeface="Roboto"/>
              </a:rPr>
              <a:t>regulation under capital risk.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" y="8312150"/>
            <a:ext cx="548513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00">
                <a:solidFill>
                  <a:srgbClr val="475569"/>
                </a:solidFill>
                <a:latin typeface="Roboto"/>
              </a:rPr>
              <a:t>• Researched crypto spot and derivatives markets; developed working knowledge of </a:t>
            </a:r>
            <a:r>
              <a:rPr spc="29" b="1" sz="900">
                <a:solidFill>
                  <a:srgbClr val="475569"/>
                </a:solidFill>
                <a:latin typeface="Roboto"/>
              </a:rPr>
              <a:t>Web3, Layer-1/Layer-2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900" y="8483600"/>
            <a:ext cx="337947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900">
                <a:solidFill>
                  <a:srgbClr val="475569"/>
                </a:solidFill>
                <a:latin typeface="Roboto"/>
              </a:rPr>
              <a:t>blockchains, consensus mechanisms, and mining economics</a:t>
            </a:r>
            <a:r>
              <a:rPr spc="12" sz="900">
                <a:solidFill>
                  <a:srgbClr val="475569"/>
                </a:solidFill>
                <a:latin typeface="Roboto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900" y="8655050"/>
            <a:ext cx="59105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00">
                <a:solidFill>
                  <a:srgbClr val="475569"/>
                </a:solidFill>
                <a:latin typeface="Roboto"/>
              </a:rPr>
              <a:t>• Navigated diverse broker backends, funding processes, and payout workflows — firsthand experience of the friction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900" y="8826500"/>
            <a:ext cx="12141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475569"/>
                </a:solidFill>
                <a:latin typeface="Roboto"/>
              </a:rPr>
              <a:t>points new traders face.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9206230"/>
            <a:ext cx="7924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050">
                <a:solidFill>
                  <a:srgbClr val="0F172A"/>
                </a:solidFill>
                <a:latin typeface="Roboto"/>
              </a:rPr>
              <a:t>EDUCATION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190" y="9521190"/>
            <a:ext cx="31508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950">
                <a:solidFill>
                  <a:srgbClr val="0F172A"/>
                </a:solidFill>
                <a:latin typeface="Roboto"/>
              </a:rPr>
              <a:t>Bachelor of Business Administration (BBA) — 1st 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6340" y="9517380"/>
            <a:ext cx="77978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850">
                <a:solidFill>
                  <a:srgbClr val="94A3B8"/>
                </a:solidFill>
                <a:latin typeface="Roboto"/>
              </a:rPr>
              <a:t>2025 — Present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190" y="9723120"/>
            <a:ext cx="22720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i="1" sz="950">
                <a:solidFill>
                  <a:srgbClr val="475569"/>
                </a:solidFill>
                <a:latin typeface="Roboto"/>
              </a:rPr>
              <a:t>S.C.D GOVERNMENT COLLEGE — India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128520"/>
            <a:ext cx="6112509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4190" y="763270"/>
            <a:ext cx="4753610" cy="120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475569"/>
                </a:solidFill>
                <a:latin typeface="Roboto"/>
              </a:rPr>
              <a:t>Focus: Business Management, Marketing, Financial Accounting, Organizational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90" y="1144270"/>
            <a:ext cx="38620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950">
                <a:solidFill>
                  <a:srgbClr val="0F172A"/>
                </a:solidFill>
                <a:latin typeface="Roboto"/>
              </a:rPr>
              <a:t>Senior Secondary Certificate (Class XII) — Commerce, CBSE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0220" y="1141730"/>
            <a:ext cx="2159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sz="850">
                <a:solidFill>
                  <a:srgbClr val="94A3B8"/>
                </a:solidFill>
                <a:latin typeface="Roboto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90" y="1346200"/>
            <a:ext cx="35534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i="1" sz="950">
                <a:solidFill>
                  <a:srgbClr val="475569"/>
                </a:solidFill>
                <a:latin typeface="Roboto"/>
              </a:rPr>
              <a:t>Accountancy, Business Studies, Economics, Mathematics,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190" y="1715770"/>
            <a:ext cx="26949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950">
                <a:solidFill>
                  <a:srgbClr val="0F172A"/>
                </a:solidFill>
                <a:latin typeface="Roboto"/>
              </a:rPr>
              <a:t>Secondary Certificate (Class X) — CBSE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220" y="1713230"/>
            <a:ext cx="2159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sz="850">
                <a:solidFill>
                  <a:srgbClr val="94A3B8"/>
                </a:solidFill>
                <a:latin typeface="Roboto"/>
              </a:rP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113280"/>
            <a:ext cx="1489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050">
                <a:solidFill>
                  <a:srgbClr val="0F172A"/>
                </a:solidFill>
                <a:latin typeface="Roboto"/>
              </a:rPr>
              <a:t>CORE COMPETENCIES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4190" y="2387600"/>
          <a:ext cx="6551930" cy="154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5330"/>
                <a:gridCol w="3276600"/>
              </a:tblGrid>
              <a:tr h="863600"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116839" algn="l">
                        <a:lnSpc>
                          <a:spcPts val="950"/>
                        </a:lnSpc>
                      </a:pPr>
                      <a:r>
                        <a:rPr spc="50" b="1" sz="950">
                          <a:solidFill>
                            <a:srgbClr val="475569"/>
                          </a:solidFill>
                          <a:latin typeface="Roboto"/>
                        </a:rPr>
                        <a:t>TRADING PLATFORMS &amp; EXECUTION</a:t>
                      </a:r>
                    </a:p>
                    <a:p>
                      <a:pPr marL="116839" algn="l">
                        <a:lnSpc>
                          <a:spcPts val="1390"/>
                        </a:lnSpc>
                      </a:pPr>
                      <a:r>
                        <a:rPr spc="-8" sz="800">
                          <a:solidFill>
                            <a:srgbClr val="475569"/>
                          </a:solidFill>
                          <a:latin typeface="Roboto"/>
                        </a:rPr>
                        <a:t>MT4 / MT5 / cTrader / Tradovate / Rithmic / QuantTower /</a:t>
                      </a:r>
                      <a:br/>
                      <a:r>
                        <a:rPr spc="6" sz="800">
                          <a:solidFill>
                            <a:srgbClr val="475569"/>
                          </a:solidFill>
                          <a:latin typeface="Roboto"/>
                        </a:rPr>
                        <a:t>DeepCharts / TradeSea — frontend navigation, backend order</a:t>
                      </a:r>
                      <a:br/>
                      <a:r>
                        <a:rPr spc="-4" sz="800">
                          <a:solidFill>
                            <a:srgbClr val="475569"/>
                          </a:solidFill>
                          <a:latin typeface="Roboto"/>
                        </a:rPr>
                        <a:t>routing, API familiarity</a:t>
                      </a: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f162a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0f162a">
                          <a:alpha val="100000"/>
                        </a:srgbClr>
                      </a:solidFill>
                    </a:lnR>
                    <a:lnT w="9525" cap="flat" cmpd="sng" algn="ctr">
                      <a:solidFill>
                        <a:srgbClr val="0f162a">
                          <a:alpha val="100000"/>
                        </a:srgbClr>
                      </a:solidFill>
                    </a:lnT>
                    <a:lnB w="9525" cap="flat" cmpd="sng" algn="ctr">
                      <a:solidFill>
                        <a:srgbClr val="0f162a">
                          <a:alpha val="100000"/>
                        </a:srgbClr>
                      </a:solidFill>
                    </a:lnB>
                    <a:solidFill>
                      <a:srgbClr val="f8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116839" algn="l">
                        <a:lnSpc>
                          <a:spcPts val="950"/>
                        </a:lnSpc>
                      </a:pPr>
                      <a:r>
                        <a:rPr spc="56" b="1" sz="950">
                          <a:solidFill>
                            <a:srgbClr val="475569"/>
                          </a:solidFill>
                          <a:latin typeface="Roboto"/>
                        </a:rPr>
                        <a:t>CRYPTO &amp; BLOCKCHAIN ECOSYSTEMS</a:t>
                      </a:r>
                    </a:p>
                    <a:p>
                      <a:pPr marL="116839" algn="l">
                        <a:lnSpc>
                          <a:spcPts val="1390"/>
                        </a:lnSpc>
                      </a:pPr>
                      <a:r>
                        <a:rPr spc="8" sz="800">
                          <a:solidFill>
                            <a:srgbClr val="475569"/>
                          </a:solidFill>
                          <a:latin typeface="Roboto"/>
                        </a:rPr>
                        <a:t>Web3 fundamentals, Layer-1 &amp; Layer-2 chains, DeFi protocols,</a:t>
                      </a:r>
                      <a:br/>
                      <a:r>
                        <a:rPr spc="0" sz="800">
                          <a:solidFill>
                            <a:srgbClr val="475569"/>
                          </a:solidFill>
                          <a:latin typeface="Roboto"/>
                        </a:rPr>
                        <a:t>wallet management, on-chain analysis, mining economics,</a:t>
                      </a:r>
                      <a:br/>
                      <a:r>
                        <a:rPr spc="-10" sz="800">
                          <a:solidFill>
                            <a:srgbClr val="475569"/>
                          </a:solidFill>
                          <a:latin typeface="Roboto"/>
                        </a:rPr>
                        <a:t>tokenomics basics</a:t>
                      </a: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f162a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0f162a">
                          <a:alpha val="100000"/>
                        </a:srgbClr>
                      </a:solidFill>
                    </a:lnR>
                    <a:lnT w="9525" cap="flat" cmpd="sng" algn="ctr">
                      <a:solidFill>
                        <a:srgbClr val="0f162a">
                          <a:alpha val="100000"/>
                        </a:srgbClr>
                      </a:solidFill>
                    </a:lnT>
                    <a:lnB w="9525" cap="flat" cmpd="sng" algn="ctr">
                      <a:solidFill>
                        <a:srgbClr val="0f162a">
                          <a:alpha val="100000"/>
                        </a:srgbClr>
                      </a:solidFill>
                    </a:lnB>
                    <a:solidFill>
                      <a:srgbClr val="f8f9fb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116839" algn="l">
                        <a:lnSpc>
                          <a:spcPts val="950"/>
                        </a:lnSpc>
                      </a:pPr>
                      <a:r>
                        <a:rPr spc="52" b="1" sz="950">
                          <a:solidFill>
                            <a:srgbClr val="475569"/>
                          </a:solidFill>
                          <a:latin typeface="Roboto"/>
                        </a:rPr>
                        <a:t>CLIENT SUPPORT &amp; OPERATIONS</a:t>
                      </a:r>
                    </a:p>
                    <a:p>
                      <a:pPr marL="116839" algn="l">
                        <a:lnSpc>
                          <a:spcPts val="1380"/>
                        </a:lnSpc>
                      </a:pPr>
                      <a:r>
                        <a:rPr spc="0" sz="800">
                          <a:solidFill>
                            <a:srgbClr val="475569"/>
                          </a:solidFill>
                          <a:latin typeface="Roboto"/>
                        </a:rPr>
                        <a:t>KYC/AML verification, ticket triage, live chat &amp; email support,</a:t>
                      </a:r>
                      <a:br/>
                      <a:r>
                        <a:rPr spc="-3" sz="800">
                          <a:solidFill>
                            <a:srgbClr val="475569"/>
                          </a:solidFill>
                          <a:latin typeface="Roboto"/>
                        </a:rPr>
                        <a:t>Discord/Slack moderation, conflict de-escalation, CRM workflows</a:t>
                      </a: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f162a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0f162a">
                          <a:alpha val="100000"/>
                        </a:srgbClr>
                      </a:solidFill>
                    </a:lnR>
                    <a:lnT w="9525" cap="flat" cmpd="sng" algn="ctr">
                      <a:solidFill>
                        <a:srgbClr val="0f162a">
                          <a:alpha val="100000"/>
                        </a:srgbClr>
                      </a:solidFill>
                    </a:lnT>
                    <a:lnB w="9525" cap="flat" cmpd="sng" algn="ctr">
                      <a:solidFill>
                        <a:srgbClr val="0f162a">
                          <a:alpha val="100000"/>
                        </a:srgbClr>
                      </a:solidFill>
                    </a:lnB>
                    <a:solidFill>
                      <a:srgbClr val="f8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116839" algn="l">
                        <a:lnSpc>
                          <a:spcPts val="950"/>
                        </a:lnSpc>
                      </a:pPr>
                      <a:r>
                        <a:rPr spc="54" b="1" sz="950">
                          <a:solidFill>
                            <a:srgbClr val="475569"/>
                          </a:solidFill>
                          <a:latin typeface="Roboto"/>
                        </a:rPr>
                        <a:t>FINANCIAL MARKETS KNOWLEDGE</a:t>
                      </a:r>
                    </a:p>
                    <a:p>
                      <a:pPr marL="116839" algn="l">
                        <a:lnSpc>
                          <a:spcPts val="1380"/>
                        </a:lnSpc>
                      </a:pPr>
                      <a:r>
                        <a:rPr spc="-1" sz="800">
                          <a:solidFill>
                            <a:srgbClr val="475569"/>
                          </a:solidFill>
                          <a:latin typeface="Roboto"/>
                        </a:rPr>
                        <a:t>Forex spot &amp; futures mechanics, prop firm evaluation models, risk</a:t>
                      </a:r>
                      <a:br/>
                      <a:r>
                        <a:rPr spc="-2" sz="800">
                          <a:solidFill>
                            <a:srgbClr val="475569"/>
                          </a:solidFill>
                          <a:latin typeface="Roboto"/>
                        </a:rPr>
                        <a:t>parameters, margin calls, drawdown rules, market microstructure</a:t>
                      </a: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f162a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0f162a">
                          <a:alpha val="100000"/>
                        </a:srgbClr>
                      </a:solidFill>
                    </a:lnR>
                    <a:lnT w="9525" cap="flat" cmpd="sng" algn="ctr">
                      <a:solidFill>
                        <a:srgbClr val="0f162a">
                          <a:alpha val="100000"/>
                        </a:srgbClr>
                      </a:solidFill>
                    </a:lnT>
                    <a:lnB w="9525" cap="flat" cmpd="sng" algn="ctr">
                      <a:solidFill>
                        <a:srgbClr val="0f162a">
                          <a:alpha val="100000"/>
                        </a:srgbClr>
                      </a:solidFill>
                    </a:lnB>
                    <a:solidFill>
                      <a:srgbClr val="f8f9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3900" y="4170679"/>
            <a:ext cx="27940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050">
                <a:solidFill>
                  <a:srgbClr val="0F172A"/>
                </a:solidFill>
                <a:latin typeface="Roboto"/>
              </a:rPr>
              <a:t>KEY ACHIEVEMENTS &amp; DIFFERENTIATORS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462780"/>
            <a:ext cx="12750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5" sz="900">
                <a:solidFill>
                  <a:srgbClr val="475569"/>
                </a:solidFill>
                <a:latin typeface="Roboto"/>
              </a:rPr>
              <a:t>I</a:t>
            </a:r>
            <a:r>
              <a:rPr spc="35" b="1" sz="900">
                <a:solidFill>
                  <a:srgbClr val="475569"/>
                </a:solidFill>
                <a:latin typeface="Roboto"/>
              </a:rPr>
              <a:t> Trader-First Empathy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646930"/>
            <a:ext cx="602360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475569"/>
                </a:solidFill>
                <a:latin typeface="Roboto"/>
              </a:rPr>
              <a:t>Unlike generic support candidates, I have personally experienced platform failures during volatile sessions, KYC delays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818380"/>
            <a:ext cx="591058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475569"/>
                </a:solidFill>
                <a:latin typeface="Roboto"/>
              </a:rPr>
              <a:t>critical payouts, and the emotional pressure of drawdowns. This lived experience enables me to resolve tickets with genuine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989830"/>
            <a:ext cx="271272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475569"/>
                </a:solidFill>
                <a:latin typeface="Roboto"/>
              </a:rPr>
              <a:t>empathy and anticipate user needs before they escalate.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219700"/>
            <a:ext cx="178943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5" sz="900">
                <a:solidFill>
                  <a:srgbClr val="475569"/>
                </a:solidFill>
                <a:latin typeface="Roboto"/>
              </a:rPr>
              <a:t>I</a:t>
            </a:r>
            <a:r>
              <a:rPr spc="32" b="1" sz="900">
                <a:solidFill>
                  <a:srgbClr val="475569"/>
                </a:solidFill>
                <a:latin typeface="Roboto"/>
              </a:rPr>
              <a:t> High-Pressure Multi-Threading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403850"/>
            <a:ext cx="58407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475569"/>
                </a:solidFill>
                <a:latin typeface="Roboto"/>
              </a:rPr>
              <a:t>Proven ability to manage 15–20+ concurrent support conversations during market-moving events (NFP, CPI, FOMC) while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575300"/>
            <a:ext cx="313817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850">
                <a:solidFill>
                  <a:srgbClr val="475569"/>
                </a:solidFill>
                <a:latin typeface="Roboto"/>
              </a:rPr>
              <a:t>maintaining accuracy, tone consistency, and escalation discipline.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806440"/>
            <a:ext cx="133223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5" sz="900">
                <a:solidFill>
                  <a:srgbClr val="475569"/>
                </a:solidFill>
                <a:latin typeface="Roboto"/>
              </a:rPr>
              <a:t>I</a:t>
            </a:r>
            <a:r>
              <a:rPr spc="15" b="1" sz="900">
                <a:solidFill>
                  <a:srgbClr val="475569"/>
                </a:solidFill>
                <a:latin typeface="Roboto"/>
              </a:rPr>
              <a:t> 24/7 Market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990590"/>
            <a:ext cx="57899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475569"/>
                </a:solidFill>
                <a:latin typeface="Roboto"/>
              </a:rPr>
              <a:t>Crypto markets never sleep and futures open at 6 PM ET. I am fully comfortable with night shifts, weekend coverage, 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6162040"/>
            <a:ext cx="3305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475569"/>
                </a:solidFill>
                <a:latin typeface="Roboto"/>
              </a:rPr>
              <a:t>rotating schedules — I already structure my life around market hours.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6536690"/>
            <a:ext cx="28600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b="1" sz="1050">
                <a:solidFill>
                  <a:srgbClr val="0F172A"/>
                </a:solidFill>
                <a:latin typeface="Roboto"/>
              </a:rPr>
              <a:t>LANGUAGES &amp; PROFESSIONAL INTERESTS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190" y="6889750"/>
            <a:ext cx="7708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b="1" sz="950">
                <a:solidFill>
                  <a:srgbClr val="0F172A"/>
                </a:solidFill>
                <a:latin typeface="Roboto"/>
              </a:rPr>
              <a:t>LANGUAGES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9520" y="6889750"/>
            <a:ext cx="16624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950">
                <a:solidFill>
                  <a:srgbClr val="0F172A"/>
                </a:solidFill>
                <a:latin typeface="Roboto"/>
              </a:rPr>
              <a:t>PROFESSIONAL INTERESTS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190" y="7167880"/>
            <a:ext cx="16967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950">
                <a:solidFill>
                  <a:srgbClr val="475569"/>
                </a:solidFill>
                <a:latin typeface="Roboto"/>
              </a:rPr>
              <a:t>English — Fluent (Professional)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520" y="7167880"/>
            <a:ext cx="29705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sz="950">
                <a:solidFill>
                  <a:srgbClr val="475569"/>
                </a:solidFill>
                <a:latin typeface="Roboto"/>
              </a:rPr>
              <a:t>Sales Development • Trading Operations • Fintech •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90" y="7345680"/>
            <a:ext cx="8039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950">
                <a:solidFill>
                  <a:srgbClr val="475569"/>
                </a:solidFill>
                <a:latin typeface="Roboto"/>
              </a:rPr>
              <a:t>Hindi — 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9520" y="7345680"/>
            <a:ext cx="3162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950">
                <a:solidFill>
                  <a:srgbClr val="475569"/>
                </a:solidFill>
                <a:latin typeface="Roboto"/>
              </a:rPr>
              <a:t>Web3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7781290"/>
            <a:ext cx="20891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050">
                <a:solidFill>
                  <a:srgbClr val="0F172A"/>
                </a:solidFill>
                <a:latin typeface="Roboto"/>
              </a:rPr>
              <a:t>AVAILABILITY &amp; PREFERENCES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8082280"/>
            <a:ext cx="593852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950">
                <a:solidFill>
                  <a:srgbClr val="475569"/>
                </a:solidFill>
                <a:latin typeface="Roboto"/>
              </a:rPr>
              <a:t>Work Type:</a:t>
            </a:r>
            <a:r>
              <a:rPr spc="20" sz="950">
                <a:solidFill>
                  <a:srgbClr val="475569"/>
                </a:solidFill>
                <a:latin typeface="Roboto"/>
              </a:rPr>
              <a:t> Remote, Part-Time, Hourly, Contract, or Shift-Based  |  </a:t>
            </a:r>
            <a:r>
              <a:rPr spc="34" b="1" sz="950">
                <a:solidFill>
                  <a:srgbClr val="475569"/>
                </a:solidFill>
                <a:latin typeface="Roboto"/>
              </a:rPr>
              <a:t>Compensation Target:</a:t>
            </a:r>
            <a:r>
              <a:rPr spc="-3" sz="950">
                <a:solidFill>
                  <a:srgbClr val="475569"/>
                </a:solidFill>
                <a:latin typeface="Roboto"/>
              </a:rPr>
              <a:t> $4/hour or above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8260080"/>
            <a:ext cx="378841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950">
                <a:solidFill>
                  <a:srgbClr val="475569"/>
                </a:solidFill>
                <a:latin typeface="Roboto"/>
              </a:rPr>
              <a:t>Schedule:</a:t>
            </a:r>
            <a:r>
              <a:rPr spc="8" sz="950">
                <a:solidFill>
                  <a:srgbClr val="475569"/>
                </a:solidFill>
                <a:latin typeface="Roboto"/>
              </a:rPr>
              <a:t> Evenings, nights, weekends, and holidays — no restrictions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8437880"/>
            <a:ext cx="57200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950">
                <a:solidFill>
                  <a:srgbClr val="475569"/>
                </a:solidFill>
                <a:latin typeface="Roboto"/>
              </a:rPr>
              <a:t>Preferred Industries:</a:t>
            </a:r>
            <a:r>
              <a:rPr spc="7" sz="950">
                <a:solidFill>
                  <a:srgbClr val="475569"/>
                </a:solidFill>
                <a:latin typeface="Roboto"/>
              </a:rPr>
              <a:t> Forex Brokerages, Crypto Exchanges, Futures Platforms, Proprietary Trading Firms,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00" y="8615680"/>
            <a:ext cx="8788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950">
                <a:solidFill>
                  <a:srgbClr val="475569"/>
                </a:solidFill>
                <a:latin typeface="Roboto"/>
              </a:rPr>
              <a:t>Fintech Startups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900" y="8793480"/>
            <a:ext cx="598805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950">
                <a:solidFill>
                  <a:srgbClr val="475569"/>
                </a:solidFill>
                <a:latin typeface="Roboto"/>
              </a:rPr>
              <a:t>Target Roles:</a:t>
            </a:r>
            <a:r>
              <a:rPr spc="6" sz="950">
                <a:solidFill>
                  <a:srgbClr val="475569"/>
                </a:solidFill>
                <a:latin typeface="Roboto"/>
              </a:rPr>
              <a:t> Customer Support Specialist, Onboarding Specialist, KYC Analyst, Community Manager, Trading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" y="8971280"/>
            <a:ext cx="34404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950">
                <a:solidFill>
                  <a:srgbClr val="475569"/>
                </a:solidFill>
                <a:latin typeface="Roboto"/>
              </a:rPr>
              <a:t>Operations Assistant, Sales Development Representative (SDR)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5400" y="9611360"/>
            <a:ext cx="24282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00">
                <a:solidFill>
                  <a:srgbClr val="94A3B8"/>
                </a:solidFill>
                <a:latin typeface="Roboto"/>
              </a:rPr>
              <a:t>Curriculum Vitae — Vishwas — Updated August 2026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474200"/>
            <a:ext cx="6112509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